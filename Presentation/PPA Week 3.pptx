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3"/>
  </p:notesMasterIdLst>
  <p:handoutMasterIdLst>
    <p:handoutMasterId r:id="rId14"/>
  </p:handoutMasterIdLst>
  <p:sldIdLst>
    <p:sldId id="277" r:id="rId5"/>
    <p:sldId id="262" r:id="rId6"/>
    <p:sldId id="289" r:id="rId7"/>
    <p:sldId id="264" r:id="rId8"/>
    <p:sldId id="266" r:id="rId9"/>
    <p:sldId id="268" r:id="rId10"/>
    <p:sldId id="290" r:id="rId11"/>
    <p:sldId id="27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09" autoAdjust="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 flipH="1">
            <a:off x="0" y="0"/>
            <a:ext cx="548881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6E2920B-965C-8AF7-E877-C42900049E30}"/>
              </a:ext>
            </a:extLst>
          </p:cNvPr>
          <p:cNvSpPr txBox="1">
            <a:spLocks/>
          </p:cNvSpPr>
          <p:nvPr/>
        </p:nvSpPr>
        <p:spPr>
          <a:xfrm>
            <a:off x="5528535" y="1555375"/>
            <a:ext cx="6313841" cy="11222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/>
              <a:t>Purchase Pattern Analysis</a:t>
            </a:r>
            <a:endParaRPr lang="en-US" sz="3200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C3E70650-1ACC-EBD8-E518-8D4355FB25C0}"/>
              </a:ext>
            </a:extLst>
          </p:cNvPr>
          <p:cNvSpPr txBox="1">
            <a:spLocks/>
          </p:cNvSpPr>
          <p:nvPr/>
        </p:nvSpPr>
        <p:spPr>
          <a:xfrm>
            <a:off x="5528535" y="2677577"/>
            <a:ext cx="4941770" cy="3966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Client Project Report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9910763F-E9B6-5691-7E62-913F8EBCC6A1}"/>
              </a:ext>
            </a:extLst>
          </p:cNvPr>
          <p:cNvSpPr txBox="1">
            <a:spLocks/>
          </p:cNvSpPr>
          <p:nvPr/>
        </p:nvSpPr>
        <p:spPr>
          <a:xfrm>
            <a:off x="5528534" y="3491097"/>
            <a:ext cx="6107653" cy="2062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Project ID: </a:t>
            </a:r>
            <a:r>
              <a:rPr lang="en-US" dirty="0"/>
              <a:t>CDACL005</a:t>
            </a:r>
          </a:p>
          <a:p>
            <a:r>
              <a:rPr lang="en-US" b="1" dirty="0"/>
              <a:t>Team Code: </a:t>
            </a:r>
            <a:r>
              <a:rPr lang="en-US" dirty="0"/>
              <a:t>PTID – CDA – SEP  - 25 -741</a:t>
            </a:r>
          </a:p>
          <a:p>
            <a:r>
              <a:rPr lang="en-US" b="1" dirty="0"/>
              <a:t>Batch: </a:t>
            </a:r>
            <a:r>
              <a:rPr lang="en-US" dirty="0"/>
              <a:t>12 – MAY – CDA – BUN – 040 – WDM1130 – BAN</a:t>
            </a:r>
          </a:p>
          <a:p>
            <a:r>
              <a:rPr lang="en-US" b="1" dirty="0"/>
              <a:t>Prepared By: </a:t>
            </a:r>
            <a:r>
              <a:rPr lang="en-US" dirty="0"/>
              <a:t>Pruthiraj Samal  (pruthirajsamal8802@gmail.com)</a:t>
            </a: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7E637182-A1FB-5E5A-2F6B-C8473290E480}"/>
              </a:ext>
            </a:extLst>
          </p:cNvPr>
          <p:cNvSpPr txBox="1"/>
          <p:nvPr/>
        </p:nvSpPr>
        <p:spPr>
          <a:xfrm>
            <a:off x="2173705" y="1025949"/>
            <a:ext cx="61120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Objectives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024DC5-BC22-E020-7D54-23809AD84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705" y="1708756"/>
            <a:ext cx="898263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Week - 3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Visualize product occurrences and trends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Apriori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algorithm for market basket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frequent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itemsets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association rules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Visualize the results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03440FD2-4CE8-3CCB-0D00-4BED91DF22BE}"/>
              </a:ext>
            </a:extLst>
          </p:cNvPr>
          <p:cNvSpPr txBox="1"/>
          <p:nvPr/>
        </p:nvSpPr>
        <p:spPr>
          <a:xfrm>
            <a:off x="2646003" y="73640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Data Visualization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408F6C-1844-76C2-4DC5-BDC5FDA2AB6A}"/>
              </a:ext>
            </a:extLst>
          </p:cNvPr>
          <p:cNvSpPr txBox="1"/>
          <p:nvPr/>
        </p:nvSpPr>
        <p:spPr>
          <a:xfrm>
            <a:off x="2646003" y="1382740"/>
            <a:ext cx="61004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Explore product frequency and trends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Understand popular products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42E7F3-80B0-D252-483C-DD9CE997E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89" y="2429179"/>
            <a:ext cx="5717229" cy="37743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640432-8AC9-21C2-A76D-7750049F2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384" y="2429180"/>
            <a:ext cx="5717230" cy="37743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90331EE-15C5-7013-5B11-B90DF4EDEA79}"/>
              </a:ext>
            </a:extLst>
          </p:cNvPr>
          <p:cNvSpPr txBox="1"/>
          <p:nvPr/>
        </p:nvSpPr>
        <p:spPr>
          <a:xfrm>
            <a:off x="1367590" y="777860"/>
            <a:ext cx="6104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 err="1"/>
              <a:t>Apriori</a:t>
            </a:r>
            <a:r>
              <a:rPr lang="en-IN" sz="3600" b="1" dirty="0"/>
              <a:t> Algorithm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6922603-989B-5092-A20E-AB163C8B1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7590" y="1424191"/>
            <a:ext cx="706418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products often bought together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Steps: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frequent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itemsets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(support)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association rules (confidence &amp; lift)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5D1744-7022-C5F5-D4A3-2E22608B2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178" y="3128681"/>
            <a:ext cx="5473012" cy="344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A605A2FC-5316-8056-39FF-353A687C6726}"/>
              </a:ext>
            </a:extLst>
          </p:cNvPr>
          <p:cNvSpPr txBox="1"/>
          <p:nvPr/>
        </p:nvSpPr>
        <p:spPr>
          <a:xfrm>
            <a:off x="2037346" y="39571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Top Association Rules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CA3A01-AED0-0D0E-B49A-8BA12EB97F78}"/>
              </a:ext>
            </a:extLst>
          </p:cNvPr>
          <p:cNvSpPr txBox="1"/>
          <p:nvPr/>
        </p:nvSpPr>
        <p:spPr>
          <a:xfrm>
            <a:off x="2037345" y="1042047"/>
            <a:ext cx="97064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Focus on top 10 rules (by lift)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Insight: Products often bought together → cross-selling opportunity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59E91CA-C9A9-A86D-1E2D-C930BDDFF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345" y="1945340"/>
            <a:ext cx="8726118" cy="434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F7C28F48-2119-412F-74EC-B7D8046BC02F}"/>
              </a:ext>
            </a:extLst>
          </p:cNvPr>
          <p:cNvSpPr txBox="1"/>
          <p:nvPr/>
        </p:nvSpPr>
        <p:spPr>
          <a:xfrm>
            <a:off x="3913953" y="692260"/>
            <a:ext cx="43640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Network Visualization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B32AE7-89D5-DE91-36DC-004B09616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082" y="1376845"/>
            <a:ext cx="5489836" cy="495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90331EE-15C5-7013-5B11-B90DF4EDEA79}"/>
              </a:ext>
            </a:extLst>
          </p:cNvPr>
          <p:cNvSpPr txBox="1"/>
          <p:nvPr/>
        </p:nvSpPr>
        <p:spPr>
          <a:xfrm>
            <a:off x="1367590" y="777860"/>
            <a:ext cx="6104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Key Insights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0F1063-1B9B-3DF5-3DFF-CAD240BA6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7590" y="1699882"/>
            <a:ext cx="757918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Frequent product combinations identified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lift → strong association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in marketing strategies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808395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6215" y="2182171"/>
            <a:ext cx="4179570" cy="1524735"/>
          </a:xfrm>
        </p:spPr>
        <p:txBody>
          <a:bodyPr/>
          <a:lstStyle/>
          <a:p>
            <a:r>
              <a:rPr lang="en-US" sz="54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293</TotalTime>
  <Words>150</Words>
  <Application>Microsoft Office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Tenorite</vt:lpstr>
      <vt:lpstr>Monoline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PRUTHIRAJ SAMAL</dc:creator>
  <cp:lastModifiedBy>PRUTHIRAJ SAMAL</cp:lastModifiedBy>
  <cp:revision>8</cp:revision>
  <dcterms:created xsi:type="dcterms:W3CDTF">2025-09-29T17:17:12Z</dcterms:created>
  <dcterms:modified xsi:type="dcterms:W3CDTF">2026-01-18T15:15:22Z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