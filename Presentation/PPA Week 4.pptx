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4"/>
  </p:notesMasterIdLst>
  <p:handoutMasterIdLst>
    <p:handoutMasterId r:id="rId15"/>
  </p:handoutMasterIdLst>
  <p:sldIdLst>
    <p:sldId id="277" r:id="rId5"/>
    <p:sldId id="262" r:id="rId6"/>
    <p:sldId id="289" r:id="rId7"/>
    <p:sldId id="264" r:id="rId8"/>
    <p:sldId id="266" r:id="rId9"/>
    <p:sldId id="268" r:id="rId10"/>
    <p:sldId id="291" r:id="rId11"/>
    <p:sldId id="290" r:id="rId12"/>
    <p:sldId id="27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09" autoAdjust="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 flipH="1">
            <a:off x="-1" y="0"/>
            <a:ext cx="553630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6E2920B-965C-8AF7-E877-C42900049E30}"/>
              </a:ext>
            </a:extLst>
          </p:cNvPr>
          <p:cNvSpPr txBox="1">
            <a:spLocks/>
          </p:cNvSpPr>
          <p:nvPr/>
        </p:nvSpPr>
        <p:spPr>
          <a:xfrm>
            <a:off x="5465782" y="1501588"/>
            <a:ext cx="6726218" cy="11222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/>
              <a:t>Purchase Pattern Analysis</a:t>
            </a:r>
            <a:endParaRPr lang="en-US" sz="3200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C3E70650-1ACC-EBD8-E518-8D4355FB25C0}"/>
              </a:ext>
            </a:extLst>
          </p:cNvPr>
          <p:cNvSpPr txBox="1">
            <a:spLocks/>
          </p:cNvSpPr>
          <p:nvPr/>
        </p:nvSpPr>
        <p:spPr>
          <a:xfrm>
            <a:off x="5465782" y="2623790"/>
            <a:ext cx="4941770" cy="3966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Client Project Report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9910763F-E9B6-5691-7E62-913F8EBCC6A1}"/>
              </a:ext>
            </a:extLst>
          </p:cNvPr>
          <p:cNvSpPr txBox="1">
            <a:spLocks/>
          </p:cNvSpPr>
          <p:nvPr/>
        </p:nvSpPr>
        <p:spPr>
          <a:xfrm>
            <a:off x="5465781" y="3437310"/>
            <a:ext cx="6331771" cy="2062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Project ID: </a:t>
            </a:r>
            <a:r>
              <a:rPr lang="en-US" dirty="0"/>
              <a:t>CDACL005</a:t>
            </a:r>
          </a:p>
          <a:p>
            <a:r>
              <a:rPr lang="en-US" b="1" dirty="0"/>
              <a:t>Team Code: </a:t>
            </a:r>
            <a:r>
              <a:rPr lang="en-US" dirty="0"/>
              <a:t>PTID – CDA – SEP  - 25 -741</a:t>
            </a:r>
          </a:p>
          <a:p>
            <a:r>
              <a:rPr lang="en-US" b="1" dirty="0"/>
              <a:t>Batch: </a:t>
            </a:r>
            <a:r>
              <a:rPr lang="en-US" dirty="0"/>
              <a:t>12 – MAY – CDA – BUN – 040 – WDM1130 – BAN</a:t>
            </a:r>
          </a:p>
          <a:p>
            <a:r>
              <a:rPr lang="en-US" b="1" dirty="0"/>
              <a:t>Prepared By: </a:t>
            </a:r>
            <a:r>
              <a:rPr lang="en-US" dirty="0"/>
              <a:t>Pruthiraj Samal  (pruthirajsamal8802@gmail.com)</a:t>
            </a: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7E637182-A1FB-5E5A-2F6B-C8473290E480}"/>
              </a:ext>
            </a:extLst>
          </p:cNvPr>
          <p:cNvSpPr txBox="1"/>
          <p:nvPr/>
        </p:nvSpPr>
        <p:spPr>
          <a:xfrm>
            <a:off x="2173705" y="1025949"/>
            <a:ext cx="27389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Objectives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95FCAA-0EC7-C5AF-EEEF-B124AE5A7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705" y="1856946"/>
            <a:ext cx="850325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Week – 4: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Summarize the key findings from market basket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Formulate actionable business insights &amp; recommendations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results to stakeholders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 the complete analysis process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03440FD2-4CE8-3CCB-0D00-4BED91DF22BE}"/>
              </a:ext>
            </a:extLst>
          </p:cNvPr>
          <p:cNvSpPr txBox="1"/>
          <p:nvPr/>
        </p:nvSpPr>
        <p:spPr>
          <a:xfrm>
            <a:off x="2646003" y="61329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Key Findings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E6308B-A53B-10DE-BB4D-9DE16A3C8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6003" y="1259629"/>
            <a:ext cx="907983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association rules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(show top 5–10 rules in a table or bullets)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Milk → Bread (Support: 0.08, Confidence: 0.75, Lift: 1.8)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Frequent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itemsets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High-lift product pairs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indicate strong associations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45EDEF-E42A-52FE-FE1F-202C02989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982" y="2981276"/>
            <a:ext cx="8717873" cy="34431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90331EE-15C5-7013-5B11-B90DF4EDEA79}"/>
              </a:ext>
            </a:extLst>
          </p:cNvPr>
          <p:cNvSpPr txBox="1"/>
          <p:nvPr/>
        </p:nvSpPr>
        <p:spPr>
          <a:xfrm>
            <a:off x="1367590" y="777860"/>
            <a:ext cx="6104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Visual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B00009-D6F5-6670-736F-DE75CB5DCCA5}"/>
              </a:ext>
            </a:extLst>
          </p:cNvPr>
          <p:cNvSpPr txBox="1"/>
          <p:nvPr/>
        </p:nvSpPr>
        <p:spPr>
          <a:xfrm>
            <a:off x="1367590" y="1424191"/>
            <a:ext cx="6719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Bar charts</a:t>
            </a:r>
            <a:r>
              <a:rPr lang="en-US" sz="2400" dirty="0"/>
              <a:t> of top antecedents and consequents</a:t>
            </a:r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366EFA-ED26-C9B5-A827-6BFDBAFB7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352" y="2193632"/>
            <a:ext cx="5495365" cy="31900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85A19B-148D-E249-FBC9-75990B4B3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8753" y="2193631"/>
            <a:ext cx="5607895" cy="31900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247ADE-2208-F0C0-F9DD-9A752CD315D7}"/>
              </a:ext>
            </a:extLst>
          </p:cNvPr>
          <p:cNvSpPr txBox="1"/>
          <p:nvPr/>
        </p:nvSpPr>
        <p:spPr>
          <a:xfrm>
            <a:off x="3411700" y="399289"/>
            <a:ext cx="54819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Network graph</a:t>
            </a:r>
            <a:r>
              <a:rPr lang="en-US" sz="2400" dirty="0"/>
              <a:t> of top association rules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2BE1BF-D744-49CE-7CBB-E6A55BF3D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700" y="1013901"/>
            <a:ext cx="5368600" cy="54448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582E88-B62B-9F28-9915-8BECA2CC8815}"/>
              </a:ext>
            </a:extLst>
          </p:cNvPr>
          <p:cNvSpPr txBox="1"/>
          <p:nvPr/>
        </p:nvSpPr>
        <p:spPr>
          <a:xfrm>
            <a:off x="3680012" y="1130114"/>
            <a:ext cx="48319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Support vs Confidence scatter plot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847E3A-0BC4-5210-5282-B78E035D6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372" y="1730745"/>
            <a:ext cx="4765256" cy="37663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491415-F20F-00EF-E712-24184A18E710}"/>
              </a:ext>
            </a:extLst>
          </p:cNvPr>
          <p:cNvSpPr txBox="1"/>
          <p:nvPr/>
        </p:nvSpPr>
        <p:spPr>
          <a:xfrm>
            <a:off x="3811120" y="770075"/>
            <a:ext cx="4569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Word Cloud of Frequent Product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D391FF-4297-5832-686C-479C913E3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439" y="1302803"/>
            <a:ext cx="8065121" cy="425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886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90331EE-15C5-7013-5B11-B90DF4EDEA79}"/>
              </a:ext>
            </a:extLst>
          </p:cNvPr>
          <p:cNvSpPr txBox="1"/>
          <p:nvPr/>
        </p:nvSpPr>
        <p:spPr>
          <a:xfrm>
            <a:off x="1367590" y="777860"/>
            <a:ext cx="6104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Insights &amp; Recommendations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C81BFEB-EA58-46BA-7F26-52EAE82A8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7590" y="1521024"/>
            <a:ext cx="836407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Cross-sell opportunities for frequently purchased items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inventory for high-demand products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Bundle high-lift product combinations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Targeted marketing strategies based on purchase patterns</a:t>
            </a:r>
          </a:p>
        </p:txBody>
      </p:sp>
    </p:spTree>
    <p:extLst>
      <p:ext uri="{BB962C8B-B14F-4D97-AF65-F5344CB8AC3E}">
        <p14:creationId xmlns:p14="http://schemas.microsoft.com/office/powerpoint/2010/main" val="2808395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6215" y="2222512"/>
            <a:ext cx="4179570" cy="1524735"/>
          </a:xfrm>
        </p:spPr>
        <p:txBody>
          <a:bodyPr/>
          <a:lstStyle/>
          <a:p>
            <a:r>
              <a:rPr lang="en-US" sz="54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374</TotalTime>
  <Words>172</Words>
  <Application>Microsoft Office PowerPoint</Application>
  <PresentationFormat>Widescreen</PresentationFormat>
  <Paragraphs>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Tenorite</vt:lpstr>
      <vt:lpstr>Monoline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PRUTHIRAJ SAMAL</dc:creator>
  <cp:lastModifiedBy>PRUTHIRAJ SAMAL</cp:lastModifiedBy>
  <cp:revision>9</cp:revision>
  <dcterms:created xsi:type="dcterms:W3CDTF">2025-09-29T17:17:12Z</dcterms:created>
  <dcterms:modified xsi:type="dcterms:W3CDTF">2026-01-18T15:15:37Z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