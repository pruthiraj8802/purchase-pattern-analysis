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3"/>
  </p:notesMasterIdLst>
  <p:handoutMasterIdLst>
    <p:handoutMasterId r:id="rId14"/>
  </p:handoutMasterIdLst>
  <p:sldIdLst>
    <p:sldId id="277" r:id="rId5"/>
    <p:sldId id="262" r:id="rId6"/>
    <p:sldId id="289" r:id="rId7"/>
    <p:sldId id="264" r:id="rId8"/>
    <p:sldId id="266" r:id="rId9"/>
    <p:sldId id="268" r:id="rId10"/>
    <p:sldId id="293" r:id="rId11"/>
    <p:sldId id="27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09" autoAdjust="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1/18/2026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1/18/2026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 flipH="1">
            <a:off x="0" y="0"/>
            <a:ext cx="548881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rt and tab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250D272-9B39-4C2D-B0F5-21010D11E43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8749" y="1361938"/>
            <a:ext cx="6765925" cy="496888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38200" y="2286002"/>
            <a:ext cx="6094270" cy="3542143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39C283A-EC40-421C-8A0E-F9A3161C88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58125" y="2284624"/>
            <a:ext cx="3147332" cy="306388"/>
          </a:xfrm>
        </p:spPr>
        <p:txBody>
          <a:bodyPr>
            <a:noAutofit/>
          </a:bodyPr>
          <a:lstStyle>
            <a:lvl1pPr marL="0" indent="0">
              <a:buNone/>
              <a:defRPr sz="14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05CA2B1-D510-4949-A638-C1A064DA41A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858125" y="2779713"/>
            <a:ext cx="3148013" cy="3095625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0347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701" r:id="rId13"/>
    <p:sldLayoutId id="2147483692" r:id="rId14"/>
    <p:sldLayoutId id="2147483681" r:id="rId15"/>
    <p:sldLayoutId id="2147483674" r:id="rId16"/>
    <p:sldLayoutId id="2147483675" r:id="rId17"/>
    <p:sldLayoutId id="2147483696" r:id="rId18"/>
    <p:sldLayoutId id="2147483677" r:id="rId19"/>
    <p:sldLayoutId id="2147483678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F6E2920B-965C-8AF7-E877-C42900049E30}"/>
              </a:ext>
            </a:extLst>
          </p:cNvPr>
          <p:cNvSpPr txBox="1">
            <a:spLocks/>
          </p:cNvSpPr>
          <p:nvPr/>
        </p:nvSpPr>
        <p:spPr>
          <a:xfrm>
            <a:off x="5600253" y="1564340"/>
            <a:ext cx="6313841" cy="11222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dirty="0"/>
              <a:t>Purchase Pattern Analysis</a:t>
            </a:r>
            <a:endParaRPr lang="en-US" sz="3200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C3E70650-1ACC-EBD8-E518-8D4355FB25C0}"/>
              </a:ext>
            </a:extLst>
          </p:cNvPr>
          <p:cNvSpPr txBox="1">
            <a:spLocks/>
          </p:cNvSpPr>
          <p:nvPr/>
        </p:nvSpPr>
        <p:spPr>
          <a:xfrm>
            <a:off x="5600253" y="2686542"/>
            <a:ext cx="4941770" cy="39666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Client Project Report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9910763F-E9B6-5691-7E62-913F8EBCC6A1}"/>
              </a:ext>
            </a:extLst>
          </p:cNvPr>
          <p:cNvSpPr txBox="1">
            <a:spLocks/>
          </p:cNvSpPr>
          <p:nvPr/>
        </p:nvSpPr>
        <p:spPr>
          <a:xfrm>
            <a:off x="5600253" y="3500062"/>
            <a:ext cx="6143512" cy="2062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Project ID: </a:t>
            </a:r>
            <a:r>
              <a:rPr lang="en-US" dirty="0"/>
              <a:t>CDACL005</a:t>
            </a:r>
          </a:p>
          <a:p>
            <a:r>
              <a:rPr lang="en-US" b="1" dirty="0"/>
              <a:t>Team Code: </a:t>
            </a:r>
            <a:r>
              <a:rPr lang="en-US" dirty="0"/>
              <a:t>PTID – CDA – SEP  - 25 -741</a:t>
            </a:r>
          </a:p>
          <a:p>
            <a:r>
              <a:rPr lang="en-US" b="1" dirty="0"/>
              <a:t>Batch: </a:t>
            </a:r>
            <a:r>
              <a:rPr lang="en-US" dirty="0"/>
              <a:t>12 – MAY – CDA – BUN – 040 – WDM1130 – BAN</a:t>
            </a:r>
          </a:p>
          <a:p>
            <a:r>
              <a:rPr lang="en-US" b="1" dirty="0"/>
              <a:t>Prepared By: </a:t>
            </a:r>
            <a:r>
              <a:rPr lang="en-US" dirty="0"/>
              <a:t>Pruthiraj Samal  (pruthirajsamal8802@gmail.com)</a:t>
            </a:r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7E637182-A1FB-5E5A-2F6B-C8473290E480}"/>
              </a:ext>
            </a:extLst>
          </p:cNvPr>
          <p:cNvSpPr txBox="1"/>
          <p:nvPr/>
        </p:nvSpPr>
        <p:spPr>
          <a:xfrm>
            <a:off x="2173705" y="1025949"/>
            <a:ext cx="61120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Objectives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DBD0D8A-8D0D-1D27-5A00-15FB305FB0AB}"/>
              </a:ext>
            </a:extLst>
          </p:cNvPr>
          <p:cNvSpPr txBox="1"/>
          <p:nvPr/>
        </p:nvSpPr>
        <p:spPr>
          <a:xfrm>
            <a:off x="2173705" y="1898791"/>
            <a:ext cx="974935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 Week - 2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Prepare dataset for Market Basket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 missing values, outliers, and inconsistencies.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Transform data into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transaction × item matrix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suitable for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Apriori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Document all cleaning and transformation steps.</a:t>
            </a:r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03440FD2-4CE8-3CCB-0D00-4BED91DF22BE}"/>
              </a:ext>
            </a:extLst>
          </p:cNvPr>
          <p:cNvSpPr txBox="1"/>
          <p:nvPr/>
        </p:nvSpPr>
        <p:spPr>
          <a:xfrm>
            <a:off x="2646003" y="73640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Handling Missing Values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CA8253-10D6-CE04-568E-B035D98F79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6003" y="1674674"/>
            <a:ext cx="849712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Itemname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~1,455 missing values →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dropped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(essential for transactions).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CustomerID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~134,041 missing →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replaced with "Guest"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Other columns → no missing values.</a:t>
            </a:r>
          </a:p>
        </p:txBody>
      </p:sp>
    </p:spTree>
    <p:extLst>
      <p:ext uri="{BB962C8B-B14F-4D97-AF65-F5344CB8AC3E}">
        <p14:creationId xmlns:p14="http://schemas.microsoft.com/office/powerpoint/2010/main" val="1844941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90331EE-15C5-7013-5B11-B90DF4EDEA79}"/>
              </a:ext>
            </a:extLst>
          </p:cNvPr>
          <p:cNvSpPr txBox="1"/>
          <p:nvPr/>
        </p:nvSpPr>
        <p:spPr>
          <a:xfrm>
            <a:off x="1367590" y="777860"/>
            <a:ext cx="61040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Handling Outliers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F2B6CB-0ACB-A68E-D923-5ED0B9C9FB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7591" y="1101025"/>
            <a:ext cx="6333092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Quantity: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Removed negative or zero values (returns/cancellations).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Removed extreme values using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IQR method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kept values within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[Q1 - 1.5*IQR, Q3 + 1.5*IQR]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Prevents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skewed analysis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unrealistic insights.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A605A2FC-5316-8056-39FF-353A687C6726}"/>
              </a:ext>
            </a:extLst>
          </p:cNvPr>
          <p:cNvSpPr txBox="1"/>
          <p:nvPr/>
        </p:nvSpPr>
        <p:spPr>
          <a:xfrm>
            <a:off x="2037346" y="51882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Data Transformation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D35176-1F81-E6BC-ECEF-349558A065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7346" y="841992"/>
            <a:ext cx="5967664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transaction matrix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Rows →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BillNo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(transactions)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Columns →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Itemname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(products)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Values → 1 if purchased, 0 otherwise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snippet: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739739-A470-3332-0BC1-44017CA851AD}"/>
              </a:ext>
            </a:extLst>
          </p:cNvPr>
          <p:cNvSpPr txBox="1"/>
          <p:nvPr/>
        </p:nvSpPr>
        <p:spPr>
          <a:xfrm>
            <a:off x="3267872" y="3181093"/>
            <a:ext cx="699435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basket = </a:t>
            </a:r>
            <a:r>
              <a:rPr lang="en-IN" sz="2000" dirty="0" err="1"/>
              <a:t>df.groupby</a:t>
            </a:r>
            <a:r>
              <a:rPr lang="en-IN" sz="2000" dirty="0"/>
              <a:t>(['</a:t>
            </a:r>
            <a:r>
              <a:rPr lang="en-IN" sz="2000" dirty="0" err="1"/>
              <a:t>BillNo</a:t>
            </a:r>
            <a:r>
              <a:rPr lang="en-IN" sz="2000" dirty="0"/>
              <a:t>','</a:t>
            </a:r>
            <a:r>
              <a:rPr lang="en-IN" sz="2000" dirty="0" err="1"/>
              <a:t>Itemname</a:t>
            </a:r>
            <a:r>
              <a:rPr lang="en-IN" sz="2000" dirty="0"/>
              <a:t>'])['Quantity'].sum().unstack().</a:t>
            </a:r>
            <a:r>
              <a:rPr lang="en-IN" sz="2000" dirty="0" err="1"/>
              <a:t>fillna</a:t>
            </a:r>
            <a:r>
              <a:rPr lang="en-IN" sz="2000" dirty="0"/>
              <a:t>(0)</a:t>
            </a:r>
          </a:p>
          <a:p>
            <a:r>
              <a:rPr lang="en-IN" sz="2000" dirty="0"/>
              <a:t>basket = (basket &gt; 0).</a:t>
            </a:r>
            <a:r>
              <a:rPr lang="en-IN" sz="2000" dirty="0" err="1"/>
              <a:t>astype</a:t>
            </a:r>
            <a:r>
              <a:rPr lang="en-IN" sz="2000" dirty="0"/>
              <a:t>(int)</a:t>
            </a:r>
          </a:p>
        </p:txBody>
      </p:sp>
    </p:spTree>
    <p:extLst>
      <p:ext uri="{BB962C8B-B14F-4D97-AF65-F5344CB8AC3E}">
        <p14:creationId xmlns:p14="http://schemas.microsoft.com/office/powerpoint/2010/main" val="2121178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F7C28F48-2119-412F-74EC-B7D8046BC02F}"/>
              </a:ext>
            </a:extLst>
          </p:cNvPr>
          <p:cNvSpPr txBox="1"/>
          <p:nvPr/>
        </p:nvSpPr>
        <p:spPr>
          <a:xfrm>
            <a:off x="2422358" y="85362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Quality Checks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B363F1-DC53-0089-B593-C259E256DE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2358" y="1776048"/>
            <a:ext cx="9240724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matrix shape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#transactions × #products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missing values in basket matrix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item frequency distribution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most purchased items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transaction size distribution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#items per basket</a:t>
            </a:r>
          </a:p>
        </p:txBody>
      </p:sp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E7E68D52-DE3B-08A4-2B14-4C72FF35C509}"/>
              </a:ext>
            </a:extLst>
          </p:cNvPr>
          <p:cNvSpPr txBox="1"/>
          <p:nvPr/>
        </p:nvSpPr>
        <p:spPr>
          <a:xfrm>
            <a:off x="1588168" y="72360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Key Findings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CCA57F-DCA0-679E-15C8-ACE8A479A1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8168" y="1521458"/>
            <a:ext cx="799510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successfully cleaned and transformed.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transactions contain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2–4 items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 items dominate purchases (long-tail distribution).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is now suitable for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 Basket Analysis.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3871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6215" y="2486971"/>
            <a:ext cx="4179570" cy="1524735"/>
          </a:xfrm>
        </p:spPr>
        <p:txBody>
          <a:bodyPr/>
          <a:lstStyle/>
          <a:p>
            <a:r>
              <a:rPr lang="en-US" sz="54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180624 Minimalist light sales pitch_Win32_v3" id="{10980D2D-A96C-4E9B-A00E-81C4CAF0ABBD}" vid="{7928933E-F394-4192-9CD9-6D2A259AB5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EFFFA3F-0FB5-4ED3-8906-A15B16577F4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light sales pitch</Template>
  <TotalTime>259</TotalTime>
  <Words>299</Words>
  <Application>Microsoft Office PowerPoint</Application>
  <PresentationFormat>Widescreen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Unicode MS</vt:lpstr>
      <vt:lpstr>Calibri</vt:lpstr>
      <vt:lpstr>Tenorite</vt:lpstr>
      <vt:lpstr>Monoline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PRUTHIRAJ SAMAL</dc:creator>
  <cp:lastModifiedBy>PRUTHIRAJ SAMAL</cp:lastModifiedBy>
  <cp:revision>6</cp:revision>
  <dcterms:created xsi:type="dcterms:W3CDTF">2025-09-29T17:17:12Z</dcterms:created>
  <dcterms:modified xsi:type="dcterms:W3CDTF">2026-01-18T15:15:09Z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