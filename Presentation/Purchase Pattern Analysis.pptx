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77" r:id="rId5"/>
    <p:sldId id="262" r:id="rId6"/>
    <p:sldId id="289" r:id="rId7"/>
    <p:sldId id="264" r:id="rId8"/>
    <p:sldId id="292" r:id="rId9"/>
    <p:sldId id="293" r:id="rId10"/>
    <p:sldId id="298" r:id="rId11"/>
    <p:sldId id="294" r:id="rId12"/>
    <p:sldId id="295" r:id="rId13"/>
    <p:sldId id="296" r:id="rId14"/>
    <p:sldId id="299" r:id="rId15"/>
    <p:sldId id="300" r:id="rId16"/>
    <p:sldId id="301" r:id="rId17"/>
    <p:sldId id="302" r:id="rId18"/>
    <p:sldId id="30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 flipH="1">
            <a:off x="-1" y="0"/>
            <a:ext cx="553630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6E2920B-965C-8AF7-E877-C42900049E30}"/>
              </a:ext>
            </a:extLst>
          </p:cNvPr>
          <p:cNvSpPr txBox="1">
            <a:spLocks/>
          </p:cNvSpPr>
          <p:nvPr/>
        </p:nvSpPr>
        <p:spPr>
          <a:xfrm>
            <a:off x="5465782" y="1501588"/>
            <a:ext cx="6726218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solidFill>
                  <a:schemeClr val="tx1"/>
                </a:solidFill>
              </a:rPr>
              <a:t>Purchase Pattern Analysis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70650-1ACC-EBD8-E518-8D4355FB25C0}"/>
              </a:ext>
            </a:extLst>
          </p:cNvPr>
          <p:cNvSpPr txBox="1">
            <a:spLocks/>
          </p:cNvSpPr>
          <p:nvPr/>
        </p:nvSpPr>
        <p:spPr>
          <a:xfrm>
            <a:off x="5465782" y="2623790"/>
            <a:ext cx="4941770" cy="396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Client Project Report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910763F-E9B6-5691-7E62-913F8EBCC6A1}"/>
              </a:ext>
            </a:extLst>
          </p:cNvPr>
          <p:cNvSpPr txBox="1">
            <a:spLocks/>
          </p:cNvSpPr>
          <p:nvPr/>
        </p:nvSpPr>
        <p:spPr>
          <a:xfrm>
            <a:off x="5465782" y="3437310"/>
            <a:ext cx="6197300" cy="206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ID: </a:t>
            </a:r>
            <a:r>
              <a:rPr lang="en-US" dirty="0"/>
              <a:t>CDACL005</a:t>
            </a:r>
          </a:p>
          <a:p>
            <a:r>
              <a:rPr lang="en-US" b="1" dirty="0"/>
              <a:t>Team Code: </a:t>
            </a:r>
            <a:r>
              <a:rPr lang="en-US" dirty="0"/>
              <a:t>PTID – CDA – SEP  - 25 -741</a:t>
            </a:r>
          </a:p>
          <a:p>
            <a:r>
              <a:rPr lang="en-US" b="1" dirty="0"/>
              <a:t>Batch: </a:t>
            </a:r>
            <a:r>
              <a:rPr lang="en-US" dirty="0"/>
              <a:t>12 – MAY – CDA – BUN – 040 – WDM1130 – BAN</a:t>
            </a:r>
          </a:p>
          <a:p>
            <a:r>
              <a:rPr lang="en-US" b="1" dirty="0"/>
              <a:t>Prepared By: </a:t>
            </a:r>
            <a:r>
              <a:rPr lang="en-US" dirty="0"/>
              <a:t>Pruthiraj Samal  (pruthirajsamal8802@gmail.com)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E637182-A1FB-5E5A-2F6B-C8473290E480}"/>
              </a:ext>
            </a:extLst>
          </p:cNvPr>
          <p:cNvSpPr txBox="1"/>
          <p:nvPr/>
        </p:nvSpPr>
        <p:spPr>
          <a:xfrm>
            <a:off x="2173705" y="1025949"/>
            <a:ext cx="273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Objectives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7C34AB-599F-CAC4-FE76-D7D523901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705" y="1672280"/>
            <a:ext cx="908596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🏁 Project Kick-off and Data Exploration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project goals, load dataset, and perform initial exploratory data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🧹 Data Cleaning and Transformation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missing values, outliers, and prepare dataset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Data Visualization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Implementation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product patterns and generate association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Insights, Recommendations, and Finalization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findings, provide actionable insights, and finalize deliverables.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3440FD2-4CE8-3CCB-0D00-4BED91DF22BE}"/>
              </a:ext>
            </a:extLst>
          </p:cNvPr>
          <p:cNvSpPr txBox="1"/>
          <p:nvPr/>
        </p:nvSpPr>
        <p:spPr>
          <a:xfrm>
            <a:off x="2646003" y="100564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Overview</a:t>
            </a:r>
            <a:endParaRPr lang="en-IN" sz="5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DEF0D4-D830-3B77-ABCE-D327F033D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03" y="1723089"/>
            <a:ext cx="88019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customer buying patterns from transaction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Value: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cross-selling, promotions, and inventory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A4F125-0E6F-C529-7534-CC9B75082889}"/>
              </a:ext>
            </a:extLst>
          </p:cNvPr>
          <p:cNvCxnSpPr/>
          <p:nvPr/>
        </p:nvCxnSpPr>
        <p:spPr>
          <a:xfrm>
            <a:off x="7010400" y="3532094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F12E72-1D9D-D6AE-DE17-6B85CB384D27}"/>
              </a:ext>
            </a:extLst>
          </p:cNvPr>
          <p:cNvSpPr txBox="1"/>
          <p:nvPr/>
        </p:nvSpPr>
        <p:spPr>
          <a:xfrm>
            <a:off x="3045759" y="3754414"/>
            <a:ext cx="61004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Data Collection</a:t>
            </a:r>
          </a:p>
          <a:p>
            <a:pPr algn="ctr"/>
            <a:r>
              <a:rPr lang="en-IN" dirty="0"/>
              <a:t>  ↓</a:t>
            </a:r>
          </a:p>
          <a:p>
            <a:pPr algn="ctr"/>
            <a:r>
              <a:rPr lang="en-IN" dirty="0"/>
              <a:t>Data Cleaning</a:t>
            </a:r>
          </a:p>
          <a:p>
            <a:pPr algn="ctr"/>
            <a:r>
              <a:rPr lang="en-IN" dirty="0"/>
              <a:t>  ↓</a:t>
            </a:r>
          </a:p>
          <a:p>
            <a:pPr algn="ctr"/>
            <a:r>
              <a:rPr lang="en-IN" dirty="0" err="1"/>
              <a:t>Apriori</a:t>
            </a:r>
            <a:r>
              <a:rPr lang="en-IN" dirty="0"/>
              <a:t> Algorithm</a:t>
            </a:r>
          </a:p>
          <a:p>
            <a:pPr algn="ctr"/>
            <a:r>
              <a:rPr lang="en-IN" dirty="0"/>
              <a:t>  ↓</a:t>
            </a:r>
          </a:p>
          <a:p>
            <a:pPr algn="ctr"/>
            <a:r>
              <a:rPr lang="en-IN" dirty="0"/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672352" y="329625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Kick-off &amp; Data Exploration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3EA83-9FB7-A0CE-73BB-2D1B2FEEDB0A}"/>
              </a:ext>
            </a:extLst>
          </p:cNvPr>
          <p:cNvSpPr txBox="1"/>
          <p:nvPr/>
        </p:nvSpPr>
        <p:spPr>
          <a:xfrm>
            <a:off x="672352" y="1039923"/>
            <a:ext cx="6849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Define objectives &amp; expectations</a:t>
            </a:r>
            <a:br>
              <a:rPr lang="en-US" dirty="0"/>
            </a:br>
            <a:r>
              <a:rPr lang="en-US" dirty="0"/>
              <a:t>Understand the project goals and what the team aims to achieve.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48F35-B05E-D66F-F8AC-ACCECF2F3176}"/>
              </a:ext>
            </a:extLst>
          </p:cNvPr>
          <p:cNvSpPr txBox="1"/>
          <p:nvPr/>
        </p:nvSpPr>
        <p:spPr>
          <a:xfrm>
            <a:off x="672351" y="1750221"/>
            <a:ext cx="6678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Load transaction dataset</a:t>
            </a:r>
            <a:br>
              <a:rPr lang="en-US" dirty="0"/>
            </a:br>
            <a:r>
              <a:rPr lang="en-US" dirty="0"/>
              <a:t>Import the dataset into the analysis environment for processing.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CDE345-C39C-0429-05AF-6AB132BE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55" y="3129434"/>
            <a:ext cx="4853246" cy="27862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D07AD5-8548-95CE-0E97-4720EF73C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989" y="3429000"/>
            <a:ext cx="5889812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832A1-F51E-B363-9556-4DC2D650BBF0}"/>
              </a:ext>
            </a:extLst>
          </p:cNvPr>
          <p:cNvSpPr txBox="1"/>
          <p:nvPr/>
        </p:nvSpPr>
        <p:spPr>
          <a:xfrm>
            <a:off x="896470" y="430323"/>
            <a:ext cx="7404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Perform EDA: summary stats, distributions, outliers</a:t>
            </a:r>
            <a:br>
              <a:rPr lang="en-US" dirty="0"/>
            </a:br>
            <a:r>
              <a:rPr lang="en-US" dirty="0"/>
              <a:t>Explore the data to identify patterns, key statistics, and any anomalies.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EF043-4303-7E0C-0D9B-551757A6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748" y="3999067"/>
            <a:ext cx="2229161" cy="2343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9019A-8925-5594-97B6-C2177FC8D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8" y="1366122"/>
            <a:ext cx="4993342" cy="2343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5D767E-C9AB-3AEE-CB5A-BC01079EB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126" y="2054687"/>
            <a:ext cx="4834236" cy="33098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50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40060" y="329625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Kick-off &amp; Data Exploration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ADF4A-CAD5-8660-A3B1-50F8289D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33600"/>
            <a:ext cx="5902359" cy="30794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C81492-9DBE-E26E-EBFD-2C1AB4C17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19" y="2133599"/>
            <a:ext cx="5662000" cy="3079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3340B8-CAD9-7DA5-E55E-E09FF0A5A7FE}"/>
              </a:ext>
            </a:extLst>
          </p:cNvPr>
          <p:cNvSpPr txBox="1"/>
          <p:nvPr/>
        </p:nvSpPr>
        <p:spPr>
          <a:xfrm>
            <a:off x="740060" y="1244800"/>
            <a:ext cx="4082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effectLst/>
                <a:latin typeface="system-ui"/>
              </a:rPr>
              <a:t>Data Distribution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35802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40060" y="329625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Kick-off &amp; Data 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340B8-CAD9-7DA5-E55E-E09FF0A5A7FE}"/>
              </a:ext>
            </a:extLst>
          </p:cNvPr>
          <p:cNvSpPr txBox="1"/>
          <p:nvPr/>
        </p:nvSpPr>
        <p:spPr>
          <a:xfrm>
            <a:off x="740060" y="1244800"/>
            <a:ext cx="4082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effectLst/>
                <a:latin typeface="system-ui"/>
              </a:rPr>
              <a:t>Detect Outliers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61B7A-2F68-C6A3-B15F-A564CBD6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270" y="1861758"/>
            <a:ext cx="5066932" cy="35915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21F287-2D8B-6948-A794-FC0DB81FC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02" y="1861759"/>
            <a:ext cx="5033210" cy="3591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835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7310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 Cleaning &amp; Transformation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7C08FA-0B01-ECDC-6527-7D334F2D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4" y="949063"/>
            <a:ext cx="108831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missing values &amp; outliers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correct missing or abnormal data points to ensure data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inconsistencies in dataset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formats, remove duplicates, and correct any errors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dataset for MBA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the data into the appropriate format required for market basket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974B19-75F4-B408-A698-482CF917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2" y="3428999"/>
            <a:ext cx="4469374" cy="2953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273561-7254-D480-A2A1-1693DCA1E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310" y="3429000"/>
            <a:ext cx="4870588" cy="29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43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Visualization &amp; </a:t>
            </a:r>
            <a:r>
              <a:rPr lang="en-IN" sz="3600" b="1" dirty="0" err="1"/>
              <a:t>Apriori</a:t>
            </a:r>
            <a:r>
              <a:rPr lang="en-IN" sz="3600" b="1" dirty="0"/>
              <a:t>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9AAEB5-4466-9278-5D5B-C08381EC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4" y="949063"/>
            <a:ext cx="87136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product occurrences &amp; trends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charts and graphs to understand product popularity and buying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to identify relationships between items in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frequent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association rules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patterns and rules that indicate which products are often bought together.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16DD1-2A2D-70BF-26A8-DB754074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614" y="3395556"/>
            <a:ext cx="5372672" cy="3159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78BABC-D624-F8C2-0B7A-182E48534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20" y="3395556"/>
            <a:ext cx="5386668" cy="31597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327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Visualization &amp; </a:t>
            </a:r>
            <a:r>
              <a:rPr lang="en-IN" sz="3600" b="1" dirty="0" err="1"/>
              <a:t>Apriori</a:t>
            </a:r>
            <a:r>
              <a:rPr lang="en-IN" sz="3600" b="1" dirty="0"/>
              <a:t>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851B2-9F8E-B0C9-5149-6AC102C9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64" y="1038992"/>
            <a:ext cx="5068007" cy="50489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52AAB-98F1-7CA6-4A30-44859EABB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8991"/>
            <a:ext cx="5642012" cy="5048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137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Insights &amp;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29B33-5D79-0323-741F-23E865F53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4" y="949063"/>
            <a:ext cx="973968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findings from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 key patterns, frequent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strong association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recommendations for business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 strategies like product bundling, cross-selling, or promotions based on the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final documentation &amp; presentation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 the analysis, charts, and insights into a comprehensive report and presentation.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E2E5F-D72D-7EC8-C69C-E240199B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36" y="3429000"/>
            <a:ext cx="7089728" cy="30022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845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Insights &amp;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7F67E-07C1-EB32-5222-3536E6A6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084" y="1785523"/>
            <a:ext cx="5474634" cy="32869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4FA0F-2891-51A5-47BA-B4D9CCF99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67" y="1785523"/>
            <a:ext cx="5474634" cy="32869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010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Insights &amp;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E282C-FFCD-0F7C-3183-219B27B7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64" y="1052868"/>
            <a:ext cx="5160435" cy="5202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B5A064-AB36-38D3-5716-A08BE0EC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401" y="1391214"/>
            <a:ext cx="5160435" cy="4075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638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Insights &amp;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BC0441-CDDB-FEC3-633B-02909BD5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"/>
          <a:stretch/>
        </p:blipFill>
        <p:spPr>
          <a:xfrm>
            <a:off x="713164" y="1134595"/>
            <a:ext cx="9332259" cy="49651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910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713164" y="302732"/>
            <a:ext cx="8233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Review &amp; Iteration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B3F39-6DEC-5FCD-7729-B8DD39FF8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4" y="949063"/>
            <a:ext cx="99279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team review of results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team goes through all the analysis, charts, and findings together.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Make sure everyone understands the results and nothing is missed.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feedback &amp; improve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suggestions or corrections from the team or stakeholders.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Refine the analysis to make it more accurate and reliable.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all project deliverables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all data, visualizations, reports, and insights are complete and polished.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 Prepare everything for presentation or submission.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9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222512"/>
            <a:ext cx="4179570" cy="1524735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446</TotalTime>
  <Words>524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system-ui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PRUTHIRAJ SAMAL</cp:lastModifiedBy>
  <cp:revision>10</cp:revision>
  <dcterms:created xsi:type="dcterms:W3CDTF">2025-09-29T17:17:12Z</dcterms:created>
  <dcterms:modified xsi:type="dcterms:W3CDTF">2026-01-18T15:15:51Z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