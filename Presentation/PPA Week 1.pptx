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77" r:id="rId5"/>
    <p:sldId id="262" r:id="rId6"/>
    <p:sldId id="289" r:id="rId7"/>
    <p:sldId id="264" r:id="rId8"/>
    <p:sldId id="266" r:id="rId9"/>
    <p:sldId id="268" r:id="rId10"/>
    <p:sldId id="293" r:id="rId11"/>
    <p:sldId id="260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09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 flipH="1">
            <a:off x="0" y="0"/>
            <a:ext cx="5488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and ta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347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701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6E2920B-965C-8AF7-E877-C42900049E30}"/>
              </a:ext>
            </a:extLst>
          </p:cNvPr>
          <p:cNvSpPr txBox="1">
            <a:spLocks/>
          </p:cNvSpPr>
          <p:nvPr/>
        </p:nvSpPr>
        <p:spPr>
          <a:xfrm>
            <a:off x="5438888" y="1483658"/>
            <a:ext cx="6313841" cy="11222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Purchase Pattern Analysis</a:t>
            </a:r>
            <a:endParaRPr lang="en-US" sz="3200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C3E70650-1ACC-EBD8-E518-8D4355FB25C0}"/>
              </a:ext>
            </a:extLst>
          </p:cNvPr>
          <p:cNvSpPr txBox="1">
            <a:spLocks/>
          </p:cNvSpPr>
          <p:nvPr/>
        </p:nvSpPr>
        <p:spPr>
          <a:xfrm>
            <a:off x="5438888" y="2605860"/>
            <a:ext cx="4941770" cy="396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Client Project Report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910763F-E9B6-5691-7E62-913F8EBCC6A1}"/>
              </a:ext>
            </a:extLst>
          </p:cNvPr>
          <p:cNvSpPr txBox="1">
            <a:spLocks/>
          </p:cNvSpPr>
          <p:nvPr/>
        </p:nvSpPr>
        <p:spPr>
          <a:xfrm>
            <a:off x="5438888" y="3419380"/>
            <a:ext cx="5919394" cy="2062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Project ID: </a:t>
            </a:r>
            <a:r>
              <a:rPr lang="en-US" dirty="0"/>
              <a:t>CDACL005</a:t>
            </a:r>
          </a:p>
          <a:p>
            <a:r>
              <a:rPr lang="en-US" b="1" dirty="0"/>
              <a:t>Team Code: </a:t>
            </a:r>
            <a:r>
              <a:rPr lang="en-US" dirty="0"/>
              <a:t>PTID – CDA – SEP  - 25 -741</a:t>
            </a:r>
          </a:p>
          <a:p>
            <a:r>
              <a:rPr lang="en-US" b="1" dirty="0"/>
              <a:t>Batch: </a:t>
            </a:r>
            <a:r>
              <a:rPr lang="en-US" dirty="0"/>
              <a:t>12 – MAY – CDA – BUN – 040 – WDM1130 – BAN</a:t>
            </a:r>
          </a:p>
          <a:p>
            <a:r>
              <a:rPr lang="en-US" b="1" dirty="0"/>
              <a:t>Prepared By: </a:t>
            </a:r>
            <a:r>
              <a:rPr lang="en-US" dirty="0"/>
              <a:t>Pruthiraj Samal  (pruthirajsamal8802@gmail.com)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7E637182-A1FB-5E5A-2F6B-C8473290E480}"/>
              </a:ext>
            </a:extLst>
          </p:cNvPr>
          <p:cNvSpPr txBox="1"/>
          <p:nvPr/>
        </p:nvSpPr>
        <p:spPr>
          <a:xfrm>
            <a:off x="2173705" y="1025949"/>
            <a:ext cx="611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Objectives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BD0D8A-8D0D-1D27-5A00-15FB305FB0AB}"/>
              </a:ext>
            </a:extLst>
          </p:cNvPr>
          <p:cNvSpPr txBox="1"/>
          <p:nvPr/>
        </p:nvSpPr>
        <p:spPr>
          <a:xfrm>
            <a:off x="2173704" y="1898791"/>
            <a:ext cx="806398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Week - 1:</a:t>
            </a:r>
          </a:p>
          <a:p>
            <a:r>
              <a:rPr lang="en-IN" sz="2400" dirty="0"/>
              <a:t>✔ Understand the structure and contents of the dataset</a:t>
            </a:r>
          </a:p>
          <a:p>
            <a:r>
              <a:rPr lang="en-IN" sz="2400" dirty="0"/>
              <a:t>✔ Perform Exploratory Data Analysis (EDA) to gain insights</a:t>
            </a:r>
          </a:p>
          <a:p>
            <a:r>
              <a:rPr lang="en-IN" sz="2400" dirty="0"/>
              <a:t>✔ Identify missing values, outliers, and inconsistencies</a:t>
            </a:r>
          </a:p>
          <a:p>
            <a:r>
              <a:rPr lang="en-IN" sz="2400" dirty="0"/>
              <a:t>✔ Generate initial visualizations to understand trends and patterns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3440FD2-4CE8-3CCB-0D00-4BED91DF22BE}"/>
              </a:ext>
            </a:extLst>
          </p:cNvPr>
          <p:cNvSpPr txBox="1"/>
          <p:nvPr/>
        </p:nvSpPr>
        <p:spPr>
          <a:xfrm>
            <a:off x="2646003" y="7364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Dataset Overview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F22D45-6E27-FF1F-098E-98F46576B4C5}"/>
              </a:ext>
            </a:extLst>
          </p:cNvPr>
          <p:cNvSpPr txBox="1"/>
          <p:nvPr/>
        </p:nvSpPr>
        <p:spPr>
          <a:xfrm>
            <a:off x="2646003" y="125962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Dataset Details:</a:t>
            </a:r>
          </a:p>
          <a:p>
            <a:r>
              <a:rPr lang="en-IN" sz="2400" dirty="0"/>
              <a:t>- Number of rows: 522064</a:t>
            </a:r>
          </a:p>
          <a:p>
            <a:r>
              <a:rPr lang="en-IN" sz="2400" dirty="0"/>
              <a:t>- Number of columns: 7</a:t>
            </a:r>
          </a:p>
          <a:p>
            <a:pPr marL="285750" indent="-285750">
              <a:buFontTx/>
              <a:buChar char="-"/>
            </a:pPr>
            <a:r>
              <a:rPr lang="en-IN" sz="2400" dirty="0"/>
              <a:t>Key Columns: </a:t>
            </a:r>
            <a:r>
              <a:rPr lang="en-IN" sz="2400" dirty="0" err="1"/>
              <a:t>BillNo</a:t>
            </a:r>
            <a:r>
              <a:rPr lang="en-IN" sz="2400" dirty="0"/>
              <a:t>, </a:t>
            </a:r>
            <a:r>
              <a:rPr lang="en-IN" sz="2400" dirty="0" err="1"/>
              <a:t>Itemname</a:t>
            </a:r>
            <a:r>
              <a:rPr lang="en-IN" sz="2400" dirty="0"/>
              <a:t>, Quantity, Present Date, Price, </a:t>
            </a:r>
            <a:r>
              <a:rPr lang="en-IN" sz="2400" dirty="0" err="1"/>
              <a:t>CustomerID</a:t>
            </a:r>
            <a:r>
              <a:rPr lang="en-IN" sz="2400" dirty="0"/>
              <a:t>, Country</a:t>
            </a:r>
          </a:p>
          <a:p>
            <a:endParaRPr lang="en-IN" sz="24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C107266-206A-C17A-C74E-584F5A327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003" y="3429000"/>
            <a:ext cx="6905146" cy="20443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90331EE-15C5-7013-5B11-B90DF4EDEA79}"/>
              </a:ext>
            </a:extLst>
          </p:cNvPr>
          <p:cNvSpPr txBox="1"/>
          <p:nvPr/>
        </p:nvSpPr>
        <p:spPr>
          <a:xfrm>
            <a:off x="1367590" y="309826"/>
            <a:ext cx="6104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Summary Statistics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2FA72A-F6B2-163A-04CB-B4B2975CEE04}"/>
              </a:ext>
            </a:extLst>
          </p:cNvPr>
          <p:cNvSpPr txBox="1"/>
          <p:nvPr/>
        </p:nvSpPr>
        <p:spPr>
          <a:xfrm>
            <a:off x="1367590" y="1117522"/>
            <a:ext cx="61040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Summary Statistics for key numerical columns:</a:t>
            </a:r>
          </a:p>
          <a:p>
            <a:r>
              <a:rPr lang="en-IN" sz="2000" dirty="0"/>
              <a:t>- Quantity:</a:t>
            </a:r>
          </a:p>
          <a:p>
            <a:r>
              <a:rPr lang="en-IN" sz="2000" dirty="0"/>
              <a:t>   • Mean: </a:t>
            </a:r>
            <a:r>
              <a:rPr lang="en-IN" sz="2000" b="0" i="0" dirty="0">
                <a:effectLst/>
                <a:latin typeface="system-ui"/>
              </a:rPr>
              <a:t>10.090435</a:t>
            </a:r>
            <a:endParaRPr lang="en-IN" sz="2000" dirty="0"/>
          </a:p>
          <a:p>
            <a:r>
              <a:rPr lang="en-IN" sz="2000" dirty="0"/>
              <a:t>   • Median:  </a:t>
            </a:r>
            <a:r>
              <a:rPr lang="en-IN" sz="2000" b="0" i="0" dirty="0">
                <a:effectLst/>
                <a:latin typeface="system-ui"/>
              </a:rPr>
              <a:t>3.000000</a:t>
            </a:r>
            <a:endParaRPr lang="en-IN" sz="2000" dirty="0"/>
          </a:p>
          <a:p>
            <a:r>
              <a:rPr lang="en-IN" sz="2000" dirty="0"/>
              <a:t>   • Std: </a:t>
            </a:r>
            <a:r>
              <a:rPr lang="en-IN" sz="2000" b="0" i="0" dirty="0">
                <a:effectLst/>
                <a:latin typeface="system-ui"/>
              </a:rPr>
              <a:t>161.110525</a:t>
            </a:r>
            <a:endParaRPr lang="en-IN" sz="2000" dirty="0"/>
          </a:p>
          <a:p>
            <a:r>
              <a:rPr lang="en-IN" sz="2000" dirty="0"/>
              <a:t>   • Max: </a:t>
            </a:r>
            <a:r>
              <a:rPr lang="en-IN" sz="2000" b="0" i="0" dirty="0">
                <a:effectLst/>
                <a:latin typeface="system-ui"/>
              </a:rPr>
              <a:t>-9600.000000</a:t>
            </a:r>
            <a:endParaRPr lang="en-IN" sz="2000" dirty="0"/>
          </a:p>
          <a:p>
            <a:r>
              <a:rPr lang="en-IN" sz="2000" dirty="0"/>
              <a:t>   • Min: </a:t>
            </a:r>
            <a:r>
              <a:rPr lang="en-IN" sz="2000" b="0" i="0" dirty="0">
                <a:effectLst/>
                <a:latin typeface="system-ui"/>
              </a:rPr>
              <a:t>80995.000000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- Price:</a:t>
            </a:r>
          </a:p>
          <a:p>
            <a:r>
              <a:rPr lang="en-IN" sz="2000" dirty="0"/>
              <a:t>   • Mean: </a:t>
            </a:r>
            <a:r>
              <a:rPr lang="en-IN" sz="2000" b="0" i="0" dirty="0">
                <a:effectLst/>
                <a:latin typeface="system-ui"/>
              </a:rPr>
              <a:t>3.826801</a:t>
            </a:r>
            <a:endParaRPr lang="en-IN" sz="2000" dirty="0"/>
          </a:p>
          <a:p>
            <a:r>
              <a:rPr lang="en-IN" sz="2000" dirty="0"/>
              <a:t>   • Median: </a:t>
            </a:r>
            <a:r>
              <a:rPr lang="en-IN" sz="2000" b="0" i="0" dirty="0">
                <a:effectLst/>
                <a:latin typeface="system-ui"/>
              </a:rPr>
              <a:t>2.080000</a:t>
            </a:r>
            <a:endParaRPr lang="en-IN" sz="2000" dirty="0"/>
          </a:p>
          <a:p>
            <a:r>
              <a:rPr lang="en-IN" sz="2000" dirty="0"/>
              <a:t>   • Std: </a:t>
            </a:r>
            <a:r>
              <a:rPr lang="en-IN" sz="2000" b="0" i="0" dirty="0">
                <a:effectLst/>
                <a:latin typeface="system-ui"/>
              </a:rPr>
              <a:t>41.900599</a:t>
            </a:r>
            <a:endParaRPr lang="en-IN" sz="2000" dirty="0"/>
          </a:p>
          <a:p>
            <a:r>
              <a:rPr lang="en-IN" sz="2000" dirty="0"/>
              <a:t>   • Max: </a:t>
            </a:r>
            <a:r>
              <a:rPr lang="en-IN" sz="2000" b="0" i="0" dirty="0">
                <a:effectLst/>
                <a:latin typeface="system-ui"/>
              </a:rPr>
              <a:t>-11062.060000</a:t>
            </a:r>
            <a:r>
              <a:rPr lang="en-IN" sz="2000" dirty="0"/>
              <a:t> </a:t>
            </a:r>
          </a:p>
          <a:p>
            <a:r>
              <a:rPr lang="en-IN" sz="2000" dirty="0"/>
              <a:t>   • Min: </a:t>
            </a:r>
            <a:r>
              <a:rPr lang="en-IN" sz="2000" b="0" i="0" dirty="0">
                <a:effectLst/>
                <a:latin typeface="system-ui"/>
              </a:rPr>
              <a:t>13541.330000</a:t>
            </a:r>
            <a:endParaRPr lang="en-IN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BB69BC-B563-9017-EDDF-238D3576E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876" y="2419209"/>
            <a:ext cx="4334480" cy="20195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A605A2FC-5316-8056-39FF-353A687C6726}"/>
              </a:ext>
            </a:extLst>
          </p:cNvPr>
          <p:cNvSpPr txBox="1"/>
          <p:nvPr/>
        </p:nvSpPr>
        <p:spPr>
          <a:xfrm>
            <a:off x="2037346" y="41803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Missing Values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A6F84-F695-BBF4-2398-ACBAC675237A}"/>
              </a:ext>
            </a:extLst>
          </p:cNvPr>
          <p:cNvSpPr txBox="1"/>
          <p:nvPr/>
        </p:nvSpPr>
        <p:spPr>
          <a:xfrm>
            <a:off x="2037346" y="980492"/>
            <a:ext cx="90340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Missing Value Analysis:</a:t>
            </a:r>
          </a:p>
          <a:p>
            <a:r>
              <a:rPr lang="en-IN" sz="2000" dirty="0"/>
              <a:t>- </a:t>
            </a:r>
            <a:r>
              <a:rPr lang="en-IN" sz="2000" dirty="0" err="1"/>
              <a:t>CustomerID</a:t>
            </a:r>
            <a:r>
              <a:rPr lang="en-IN" sz="2000" dirty="0"/>
              <a:t> column has missing values 134041  (~25.7% of records)</a:t>
            </a:r>
          </a:p>
          <a:p>
            <a:r>
              <a:rPr lang="en-IN" sz="2000" dirty="0"/>
              <a:t>- </a:t>
            </a:r>
            <a:r>
              <a:rPr lang="en-IN" sz="2000" dirty="0" err="1"/>
              <a:t>Itemname</a:t>
            </a:r>
            <a:r>
              <a:rPr lang="en-IN" sz="2000" dirty="0"/>
              <a:t> column has missing values 1455 (~ 0.28% of records)</a:t>
            </a:r>
          </a:p>
          <a:p>
            <a:r>
              <a:rPr lang="en-IN" sz="2000" dirty="0"/>
              <a:t>- All other columns are complete</a:t>
            </a:r>
          </a:p>
          <a:p>
            <a:r>
              <a:rPr lang="en-IN" sz="2000" dirty="0"/>
              <a:t>- Missing values can affect association analysis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4F96F00-7B8B-41CE-A102-5298C3FD3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141" y="2919484"/>
            <a:ext cx="5951717" cy="3642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F7C28F48-2119-412F-74EC-B7D8046BC02F}"/>
              </a:ext>
            </a:extLst>
          </p:cNvPr>
          <p:cNvSpPr txBox="1"/>
          <p:nvPr/>
        </p:nvSpPr>
        <p:spPr>
          <a:xfrm>
            <a:off x="2422358" y="30797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Data Distributions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2EE5AB-C640-895B-0365-E1204FD4AA08}"/>
              </a:ext>
            </a:extLst>
          </p:cNvPr>
          <p:cNvSpPr txBox="1"/>
          <p:nvPr/>
        </p:nvSpPr>
        <p:spPr>
          <a:xfrm>
            <a:off x="2422358" y="843677"/>
            <a:ext cx="73472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Quantity Distribution: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transactions involve </a:t>
            </a:r>
            <a:r>
              <a:rPr lang="en-US" b="1" dirty="0"/>
              <a:t>1–5 items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extreme values exist, indicating </a:t>
            </a:r>
            <a:r>
              <a:rPr lang="en-US" b="1" dirty="0"/>
              <a:t>bulk purchases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quantities are present, representing </a:t>
            </a:r>
            <a:r>
              <a:rPr lang="en-US" b="1" dirty="0"/>
              <a:t>returns or cancellations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Price Distribution: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Majority of items are </a:t>
            </a:r>
            <a:r>
              <a:rPr lang="en-US" b="1" dirty="0"/>
              <a:t>low-priced (&lt; ₹500)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few very high-priced items exist, which are </a:t>
            </a:r>
            <a:r>
              <a:rPr lang="en-US" b="1" dirty="0"/>
              <a:t>outliers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Price distribution is </a:t>
            </a:r>
            <a:r>
              <a:rPr lang="en-US" b="1" dirty="0"/>
              <a:t>right-skewed</a:t>
            </a:r>
            <a:r>
              <a:rPr lang="en-US" dirty="0"/>
              <a:t>, with a long tail toward higher prices.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94700B-5108-308D-7188-5C9BB25C3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2" y="3641536"/>
            <a:ext cx="5274694" cy="28448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F2F102-7CD2-7491-49EE-3C65E52B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1506" y="3641536"/>
            <a:ext cx="5274693" cy="28448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7E68D52-DE3B-08A4-2B14-4C72FF35C509}"/>
              </a:ext>
            </a:extLst>
          </p:cNvPr>
          <p:cNvSpPr txBox="1"/>
          <p:nvPr/>
        </p:nvSpPr>
        <p:spPr>
          <a:xfrm>
            <a:off x="1588168" y="4008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Outliers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8D5DC-0206-90A4-5CC4-6192E1B44B74}"/>
              </a:ext>
            </a:extLst>
          </p:cNvPr>
          <p:cNvSpPr txBox="1"/>
          <p:nvPr/>
        </p:nvSpPr>
        <p:spPr>
          <a:xfrm>
            <a:off x="1588168" y="1047201"/>
            <a:ext cx="85150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Quantity Outliers: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transactions have </a:t>
            </a:r>
            <a:r>
              <a:rPr lang="en-US" sz="2000" b="1" dirty="0"/>
              <a:t>very high quantities</a:t>
            </a:r>
            <a:r>
              <a:rPr lang="en-US" sz="2000" dirty="0"/>
              <a:t>, indicating bulk purchases.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Negative quantities</a:t>
            </a:r>
            <a:r>
              <a:rPr lang="en-US" sz="2000" dirty="0"/>
              <a:t> represent </a:t>
            </a:r>
            <a:r>
              <a:rPr lang="en-US" sz="2000" b="1" dirty="0"/>
              <a:t>returns or cancellations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Price Outliers: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Most items are </a:t>
            </a:r>
            <a:r>
              <a:rPr lang="en-US" sz="2000" b="1" dirty="0"/>
              <a:t>low-priced (&lt; ₹500)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Few items have </a:t>
            </a:r>
            <a:r>
              <a:rPr lang="en-US" sz="2000" b="1" dirty="0"/>
              <a:t>very high prices</a:t>
            </a:r>
            <a:r>
              <a:rPr lang="en-US" sz="2000" dirty="0"/>
              <a:t>, showing premium products or rare cases.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AABBBA-79F8-6CB4-EFAA-EB90F9AB7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162" y="3543965"/>
            <a:ext cx="5038165" cy="3118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60DB46F-1ACB-C0F1-31F4-899DB4EE8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674" y="3543964"/>
            <a:ext cx="4957483" cy="31187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387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1AA6B09-15C9-482D-202D-39EEF5B09751}"/>
              </a:ext>
            </a:extLst>
          </p:cNvPr>
          <p:cNvSpPr txBox="1"/>
          <p:nvPr/>
        </p:nvSpPr>
        <p:spPr>
          <a:xfrm>
            <a:off x="1157862" y="7721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Key Findings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6961F7-350F-A37B-0FE5-08B00A576710}"/>
              </a:ext>
            </a:extLst>
          </p:cNvPr>
          <p:cNvSpPr txBox="1"/>
          <p:nvPr/>
        </p:nvSpPr>
        <p:spPr>
          <a:xfrm>
            <a:off x="1157862" y="1418528"/>
            <a:ext cx="10146632" cy="3780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522,064 records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 columns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exist in: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Itemname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1,455 records (~0.28%)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CustomerID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134,041 records (~25.7%)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Quantity distribution: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transactions involve 1–5 items; some very high quantities exist; negative quantities indicate returns.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distribution: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Majority of items priced below ₹500; a few high-priced outliers exist; distribution is right-skewed.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Quantity and Price values may affect analysis</a:t>
            </a:r>
          </a:p>
        </p:txBody>
      </p:sp>
    </p:spTree>
    <p:extLst>
      <p:ext uri="{BB962C8B-B14F-4D97-AF65-F5344CB8AC3E}">
        <p14:creationId xmlns:p14="http://schemas.microsoft.com/office/powerpoint/2010/main" val="566997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6215" y="2406289"/>
            <a:ext cx="4179570" cy="1524735"/>
          </a:xfrm>
        </p:spPr>
        <p:txBody>
          <a:bodyPr/>
          <a:lstStyle/>
          <a:p>
            <a:r>
              <a:rPr lang="en-US" sz="5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91</TotalTime>
  <Words>434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Calibri</vt:lpstr>
      <vt:lpstr>system-ui</vt:lpstr>
      <vt:lpstr>Tenorite</vt:lpstr>
      <vt:lpstr>Monoline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PRUTHIRAJ SAMAL</dc:creator>
  <cp:lastModifiedBy>PRUTHIRAJ SAMAL</cp:lastModifiedBy>
  <cp:revision>4</cp:revision>
  <dcterms:created xsi:type="dcterms:W3CDTF">2025-09-29T17:17:12Z</dcterms:created>
  <dcterms:modified xsi:type="dcterms:W3CDTF">2026-01-18T15:14:34Z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